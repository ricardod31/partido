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somos um projeto de software livre desenhado a partir dos fundamentos organizativos leninistas — célula, comitê, congresso, jornal — com uma regra técnica inegociável: o servidor não consegue ler o que a militância escreve. Esta apresentação mostra o que a ferramenta faz, como protege e — com a mesma seriedade — o que ela NÃO protege.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de partida: hoje a vida partidária real acontece em WhatsApp, Telegram e planilhas. Três consequências práticas: 1) cada grupo é a lista de filiados no bolso de cada membro — qualquer celular apreendido, perdido ou fotografado entrega nomes, telefones e histórico; 2) os servidores pertencem a empresas estrangeiras que cooperam com quem as pressiona — e guardam metadados mesmo quando o conteúdo é cifrado; 3) não há forma partidária nessas ferramentas: decisão, ata, mandato e prestação de contas viram mensagens soltas.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tese que orienta todo o desenho. Nenhuma ferramenta torna uma organização invisível — quem promete isso mente. O que uma boa ferramenta faz é reduzir o que cada ponto pode entregar: o que o servidor entrega se for apreendido, o que um celular entrega se for aberto, o que um infiltrado consegue levar além do que já vê. E diz esses limites na cara da militância, dentro do aplicativo — porque militante que conhece o limite se protege; militante iludido se expõe.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é a ferramenta, em uma frase: um aplicativo em que a forma leninista de organização — células, comitês, congresso, jornal, deliberação com debate e voto — é o próprio desenho do software, e em que o servidor da organização não consegue ler nada do que circula. Não é um chat com nome de partido: é a vida orgânica com forma própria. Cada organização roda o seu servidor; organizações distintas podem se federar por acordo explícito para frentes comuns.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ferramenta não inventa uma forma nova: traduz a forma histórica. Quatro exemplos do mapeamento (o estudo completo, com fontes primárias, está público no repositório): a célula como unidade fundamental vira a sala básica do aplicativo; o centralismo democrático vira o fluxo de dados — eleição e informe sobem, decisão vinculante desce, e debate sempre antes do voto; o jornal como organizador coletivo vira o módulo central de publicação e correspondência; e a konspiratsiya — os pseudônimos, o need-to-know — vira compartimentação por construção: cada sala tem seu nome, sua fechadura, seus membros.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é usar: cada sala tem um mural — a conversa corrente da célula, como um grupo de mensagens, mas dentro da forma. No alto, a ordem do dia: o que a sala fixou, com assinatura de quem fixou, o papel (secretário) e o prazo. A convocação de reunião carrega só título e hora — de propósito: se essa tela vazar, vaza apenas que “algo acontece quinta às 19h”. Confirmar presença é escrever uma frase — e o aplicativo espalha o envio num momento aleatório antes da hora, para o padrão de tráfego não denunciar a véspera de reunião. Qualquer mensagem pode virar uma conversa própria; conversas viram decisões com um toque.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deliberação tem as fases da vida partidária: proposta, debate, emendas com versão de texto, voto, apuração e ata. Dois detalhes de desenho que interessam a uma direção: a lista de votantes congela na abertura da decisão — não se ganha votação enchendo a sala na véspera; e a ata é assinada pelo organismo, imutável, e desce obrigando — correções são nova ata que aponta para a anterior. Emendar reabre o debate no texto mudado, mas nunca reabre a lista de votantes.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voto secreto é uma cerimônia guiada, pensada para quem nunca votou assim — há inclusive um ensaio completo que não vale nada, para praticar sem medo. Três garantias em linguagem de assembleia: a mesa eleita confere quem pode votar, e precisa de 3 das 5 pessoas concordando — ninguém emite senha de votação sozinho; a cédula é lacrada no aparelho antes de sair dele; e o depósito espera uma janela de mistura — para ninguém ligar o horário do voto a uma pessoa. A urna só abre com as chaves de vários escrutinadores juntos. E o limite dito na tela: o voto é secreto perante o sistema, mas não protege contra alguém que obrigue a militante a mostrar a tela.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analogia central da segurança: o servidor da organização é um carteiro que entrega envelopes lacrados. Ele precisa saber para qual sala levar cada envelope, quando, e o tamanho do pacote — sem isso não entrega. Mas não abre nenhum. E se o prédio do carteiro for tomado — o servidor apreendido —, o que existe lá são envelopes lacrados e o mapa de quais salas existem. É por isso que dizemos: cego para o conteúdo, não para a estrutura. Essa honestidade está no aplicativo, escrita, ao alcance de qualquer militante.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proteções que a militância vê todos os dias. Primeira: em cada sala a pessoa tem um nome diferente — na célula é Camarada Pórtico, no congresso é Camarada Vértice. Se a tela de uma sala for fotografada, o retrato não entrega quem ela é nas outras. Segunda: cada sala tem uma fechadura que troca sempre que alguém entra ou sai. Quem entra não lê o que veio antes; quem sai não lê o que vem depois. A porta fecha nos dois sentidos — e o aplicativo mostra o número da fechadura na barra da sala, para todo mundo ver que ela trocou.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existe cadastro: a conta é uma chave criada no aparelho, e a cópia de segurança são 12 palavras escritas num papel, guardado onde a militante decidir. Perdeu o celular? O secretário tranca aquela chave — o aparelho perdido não lê mais nada dali em diante. Importante politicamente: trancar corta a chave, nunca a filiação — não é punição, é manutenção; o ato fica registrado na sala, com justificativa à vista, e é contestável. A militante volta com um reconvite, como a mesma pessoa. E ninguém entra na organização por botão: entra-se por convite pessoal e admissão votada pela célula.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slide mais importante da apresentação. Toda ferramenta que se apresenta a uma direção deveria responder isto de saída. Um infiltrado admitido na célula lê o que a célula lê — nenhuma criptografia resolve confiança política; a resposta é a compartimentação: ele lê a sala dele, não a organização. Coação: quem obriga alguém a abrir a tela vê o que a pessoa vê. Aparelho aberto entrega o que está nele. A estrutura — que salas existem — fica no servidor. E o ritmo do tráfego aparece para quem observa a rede — por isso a confirmação de reunião sai em horário aleatório. Cada militante tem esse painel a um toque, adaptado à tela em que está. Iludir a base é desarmá-la.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Numa ferramenta comercial, sempre há um administrador que pode tudo. Aqui, não: cargos nascem de eleição, com mandato, prazo e revogabilidade (recall). Não existe botão de remover militante — afastamento é processo deliberado, com quórum, defesa e recurso. Todo ato de organização — fixar uma pauta, trancar uma chave, encerrar uma conversa — sai assinado com o papel de quem fez, à vista da sala, e é contestável por questão de ordem, que a sala inteira vê e decide. E a vigilância é simétrica: atos em série de um dirigente sobem sozinhos para apreciação da instância superior. O poder na ferramenta tem a mesma forma do poder no estatuto.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o comitê, o Balanço do território: cotização, informes, forças e mandatos — sempre números por organismo, nunca pessoas. Em vez de ranking, uma fila de apoio: quem precisa de contato primeiro — e o silêncio de uma célula não é tratado como falta: pode ser sobrecarga, pode ser segurança; o primeiro passo é contato, não juízo. Cada número diz a idade do dado e de onde veio (declarado pela célula, não medido). E o espelho: a célula vê exatamente o que o comitê vê dela — prestação de contas nos dois sentidos, sem espelho escuro.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realidades, dois regimes — e a ferramenta muda de comportamento conforme o estatuto da organização. Movimento ou associação: a cota pode ser paga em dinheiro vivo à tesoureira, que entrega um vale — um código que a militante resgata no aplicativo. O servidor nunca sabe quem pagou; esse vínculo existe só com a tesoureira, no papel — o modelo histórico da cotização. Partido registrado: a lei brasileira (9.096/95) proíbe doação anônima — então o aplicativo tranca sozinho o caminho anônimo e assume o PIX identificado, dizendo na tela o que ele expõe. Não prometemos anonimato que a lei proíbe — honestidade também é jurídica. Em ambos: prestação de contas por sala, conferida pela comissão de finanças, com conferência mecânica de vales contra totais.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Onde o projeto está: a fase de desenho terminou. São oito documentos públicos — do estudo histórico ao modelo de ameaças — e um protótipo navegável de alta fidelidade, com todas as telas desta apresentação. O desenho passou por rodadas sucessivas de validação adversarial: times independentes atacando o próprio desenho, com todos os achados corrigidos ou registrados com honestidade. O que falta: fechar as últimas decisões de arquitetura (registradas uma a uma, em aberto, no repositório) e construir o aplicativo real. É software livre: tudo pode ser auditado por qualquer pessoa da sua organização — e essa auditabilidade é, ela mesma, uma garantia política.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Fechamento: não estamos vendendo nada — é software livre, da classe. Três pedidos às direções: critiquem o desenho (a crítica política vale mais que a técnica nesta fase); pilotem com um organismo real quando a construção começar; e lembrem que cada organização roda o próprio servidor — federação só por acordo. Fechar repetindo a tese: segurança é gestão de riscos. Perguntas frequentes para se preparar: 'quem paga?' (infraestrutura própria barata + trabalho voluntário/auditável); 'e se o Estado bloquear?' (rede protegida com pontes); 'quando fica pronto?' (fase de construção depende dos pilotos e das mãos que se somarem).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2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LIVRE PARA A ORGANIZAÇÃO DE BASE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10908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partido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0"/>
            <a:ext cx="8897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B6C1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Organização celular com o sigilo como desenho — não como promessa.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108960" y="4297680"/>
            <a:ext cx="5971032" cy="1097280"/>
          </a:xfrm>
          <a:prstGeom prst="roundRect">
            <a:avLst>
              <a:gd name="adj" fmla="val 7500"/>
            </a:avLst>
          </a:prstGeom>
          <a:solidFill>
            <a:srgbClr val="12182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0" y="4434840"/>
            <a:ext cx="5605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para direções partidárias.
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E9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conhecimento de tecnologia é necessário para acompanhar.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63093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9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público em fase de desenho · documentos e protótipo abertos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organização vive dentro de ferramentas de vigilância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3520440" cy="3931920"/>
          </a:xfrm>
          <a:prstGeom prst="roundRect">
            <a:avLst>
              <a:gd name="adj" fmla="val 2338"/>
            </a:avLst>
          </a:prstGeom>
          <a:solidFill>
            <a:srgbClr val="12182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205740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25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914400" y="2880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grupo é a lista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342900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grupo de aplicativo é a lista de filiados — no bolso de cada membro. Um único celular apreendido entrega nomes, telefones e todo o histórico.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43400" y="1828800"/>
            <a:ext cx="3520440" cy="3931920"/>
          </a:xfrm>
          <a:prstGeom prst="roundRect">
            <a:avLst>
              <a:gd name="adj" fmla="val 2338"/>
            </a:avLst>
          </a:prstGeom>
          <a:solidFill>
            <a:srgbClr val="12182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17720" y="205740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25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4617720" y="2880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servidor é dos outros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617720" y="342900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mensagens passam por empresas que não respondem à organização. Mesmo “cifrado”, fica registrado quem fala com quem, quando e quanto.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8046720" y="1828800"/>
            <a:ext cx="3520440" cy="3931920"/>
          </a:xfrm>
          <a:prstGeom prst="roundRect">
            <a:avLst>
              <a:gd name="adj" fmla="val 2338"/>
            </a:avLst>
          </a:prstGeom>
          <a:solidFill>
            <a:srgbClr val="12182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1040" y="205740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25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8321040" y="2880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forma partidária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321040" y="342900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vira enquete, ata vira print, cotização vira planilha solta. A forma organizativa — que é política — não existe na ferramenta.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40080" y="60807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B6C1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um problema de disciplina da militância. É a ferramenta errada para a tarefa.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PRINCÍPIO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 é gestão de riscos — nunca a ausência deles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6583680" cy="4114800"/>
          </a:xfrm>
          <a:prstGeom prst="roundRect">
            <a:avLst>
              <a:gd name="adj" fmla="val 2000"/>
            </a:avLst>
          </a:prstGeom>
          <a:solidFill>
            <a:srgbClr val="12182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2286000"/>
            <a:ext cx="5943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ferramenta torna a organização invisível. Quem promete isso, mente.</a:t>
            </a:r>
            <a:endParaRPr lang="en-US" sz="16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se pode fazer é reduzir o que cada ponto entrega: o servidor, o celular, o infiltrado.</a:t>
            </a:r>
            <a:endParaRPr lang="en-US" sz="160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dizer os limites na cara da militância — dentro do próprio aplicativo.</a:t>
            </a:r>
            <a:endParaRPr lang="en-US" sz="1600" dirty="0"/>
          </a:p>
          <a:p>
            <a:pPr indent="0" marL="0">
              <a:lnSpc>
                <a:spcPct val="115000"/>
              </a:lnSpc>
              <a:spcBef>
                <a:spcPts val="1200"/>
              </a:spcBef>
              <a:buNone/>
            </a:pPr>
            <a:r>
              <a:rPr lang="en-US" sz="1500" i="1" dirty="0">
                <a:solidFill>
                  <a:srgbClr val="E2A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Militante que conhece o limite se protege. Militante iludido se expõe.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589520" y="1920240"/>
            <a:ext cx="3959352" cy="4114800"/>
          </a:xfrm>
          <a:prstGeom prst="roundRect">
            <a:avLst>
              <a:gd name="adj" fmla="val 2079"/>
            </a:avLst>
          </a:prstGeom>
          <a:solidFill>
            <a:srgbClr val="12182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0" y="2194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9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desenho inteiro segue esta ordem: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86384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5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8503920" y="26974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Reduzir
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8E9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cada ponto pode entregar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86384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5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8503920" y="37490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Compartimentar
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8E9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dá para reduzir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863840" y="4800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5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8503920" y="48006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Confessar
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8E9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dá para compartimentar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PROPOSTA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estrutura do partido é o próprio aplicativo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12182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96112" y="2029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D9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Células, comitês, congresso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96112" y="248716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organismo é uma sala fechada. A árvore da organização é a navegação do aplicativo.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43400" y="182880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12182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99432" y="2029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D9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Deliberação com forma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599432" y="248716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Proposta, debate, emendas, voto (aberto ou secreto), apuração e ata assinada que desce e obriga.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046720" y="182880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12182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02752" y="2029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D9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jornal no centro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8302752" y="248716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Organizador coletivo: desce da redação, e as células respondem por correspondência.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388620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12182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6112" y="40873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D9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cego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896112" y="454456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servidor entrega envelopes lacrados. Quem o controla — ou o apreende — não lê o conteúdo.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343400" y="388620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12182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99432" y="40873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D9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Identidade sem cadastro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4599432" y="454456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nome, telefone ou e-mail. A conta é uma chave no aparelho — e 12 palavras num papel.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046720" y="388620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12182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02752" y="40873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D9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organização, seu servidor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8302752" y="454456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Autonomia total. Frentes com outras organizações, só por acordo assinado das duas direções.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40080" y="60807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E9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livre: o código é público e qualquer organização pode auditar, rodar e modificar.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que Lenin escreveu ao que o aplicativo faz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5212080" cy="914400"/>
          </a:xfrm>
          <a:prstGeom prst="roundRect">
            <a:avLst>
              <a:gd name="adj" fmla="val 9000"/>
            </a:avLst>
          </a:prstGeom>
          <a:solidFill>
            <a:srgbClr val="12182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1938528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célula é a unidade fundamental”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89320" y="2011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537960" y="1828800"/>
            <a:ext cx="5010912" cy="914400"/>
          </a:xfrm>
          <a:prstGeom prst="roundRect">
            <a:avLst>
              <a:gd name="adj" fmla="val 9000"/>
            </a:avLst>
          </a:prstGeom>
          <a:solidFill>
            <a:srgbClr val="12182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12280" y="1938528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sala básica do aplicativo. Auto-organizada, com secretário eleito, cotização e atas próprias.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2880360"/>
            <a:ext cx="5212080" cy="914400"/>
          </a:xfrm>
          <a:prstGeom prst="roundRect">
            <a:avLst>
              <a:gd name="adj" fmla="val 9000"/>
            </a:avLst>
          </a:prstGeom>
          <a:solidFill>
            <a:srgbClr val="12182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990088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Centralismo democrático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989320" y="3063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6537960" y="2880360"/>
            <a:ext cx="5010912" cy="914400"/>
          </a:xfrm>
          <a:prstGeom prst="roundRect">
            <a:avLst>
              <a:gd name="adj" fmla="val 9000"/>
            </a:avLst>
          </a:prstGeom>
          <a:solidFill>
            <a:srgbClr val="12182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12280" y="2990088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Vira fluxo: eleição e informe sobem, decisão vinculante desce — e o debate vem sempre antes do voto.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" y="3931920"/>
            <a:ext cx="5212080" cy="914400"/>
          </a:xfrm>
          <a:prstGeom prst="roundRect">
            <a:avLst>
              <a:gd name="adj" fmla="val 9000"/>
            </a:avLst>
          </a:prstGeom>
          <a:solidFill>
            <a:srgbClr val="12182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4041648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jornal como organizador coletivo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989320" y="4114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6537960" y="3931920"/>
            <a:ext cx="5010912" cy="914400"/>
          </a:xfrm>
          <a:prstGeom prst="roundRect">
            <a:avLst>
              <a:gd name="adj" fmla="val 9000"/>
            </a:avLst>
          </a:prstGeom>
          <a:solidFill>
            <a:srgbClr val="12182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12280" y="4041648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central: desce da redação; cada célula responde por correspondência interna.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40080" y="4983480"/>
            <a:ext cx="5212080" cy="914400"/>
          </a:xfrm>
          <a:prstGeom prst="roundRect">
            <a:avLst>
              <a:gd name="adj" fmla="val 9000"/>
            </a:avLst>
          </a:prstGeom>
          <a:solidFill>
            <a:srgbClr val="12182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4400" y="5093208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Konspiratsiya (compartimentação)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989320" y="5166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6537960" y="4983480"/>
            <a:ext cx="5010912" cy="914400"/>
          </a:xfrm>
          <a:prstGeom prst="roundRect">
            <a:avLst>
              <a:gd name="adj" fmla="val 9000"/>
            </a:avLst>
          </a:prstGeom>
          <a:solidFill>
            <a:srgbClr val="12182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12280" y="5093208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Pseudônimo diferente em cada sala; quem entra não lê o passado; quem sai não lê o futuro.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40080" y="6172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9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estudo histórico completo — com limites e recusas declarados — é público, no repositório do projeto.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DIA A DIA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célula: mural, ordem do dia, convocação</a:t>
            </a:r>
            <a:endParaRPr lang="en-US" sz="3400" dirty="0"/>
          </a:p>
        </p:txBody>
      </p:sp>
      <p:pic>
        <p:nvPicPr>
          <p:cNvPr id="5" name="Image 0" descr="/tmp/claude-0/-home-user-partido/1ac52068-35f9-5dd2-a5dd-be8c5fa1f913/scratchpad/deck/mu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960120"/>
            <a:ext cx="2860431" cy="5577840"/>
          </a:xfrm>
          <a:prstGeom prst="rect">
            <a:avLst/>
          </a:prstGeom>
          <a:effectLst>
            <a:outerShdw sx="100000" sy="100000" kx="0" ky="0" algn="bl" rotWithShape="0" blurRad="177800" dist="76200" dir="5400000">
              <a:srgbClr val="000000">
                <a:alpha val="50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640080" y="182880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mural é a vida corrente
</a:t>
            </a:r>
            <a:endParaRPr lang="en-US" sz="15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 da sala, com conversas nomeadas por assunto — e nada de curtidas, notas ou ranking: debate, não palco.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640080" y="288036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Ordem do dia com assinatura
</a:t>
            </a:r>
            <a:endParaRPr lang="en-US" sz="15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está fixado carrega quem fixou, o papel e o prazo. Fixar é ato político — e contestável por questão de ordem.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640080" y="393192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Convocação: só título e hora
</a:t>
            </a:r>
            <a:endParaRPr lang="en-US" sz="15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“Reunião da célula · quinta 19h”. O quê e onde viajam por fora, de boca. Se vazar, vaza quase nada.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640080" y="498348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 é escrever
</a:t>
            </a:r>
            <a:endParaRPr lang="en-US" sz="15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“Confirmo, vou.” O envio sai num momento aleatório antes da hora — o ritmo do tráfego não denuncia a reunião.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8549640" y="6547104"/>
            <a:ext cx="28604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 real do protótipo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 decisão tem forma: debate antes, ata depois</a:t>
            </a:r>
            <a:endParaRPr lang="en-US" sz="3400" dirty="0"/>
          </a:p>
        </p:txBody>
      </p:sp>
      <p:pic>
        <p:nvPicPr>
          <p:cNvPr id="5" name="Image 0" descr="/tmp/claude-0/-home-user-partido/1ac52068-35f9-5dd2-a5dd-be8c5fa1f913/scratchpad/deck/deciso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960120"/>
            <a:ext cx="2860431" cy="5577840"/>
          </a:xfrm>
          <a:prstGeom prst="rect">
            <a:avLst/>
          </a:prstGeom>
          <a:effectLst>
            <a:outerShdw sx="100000" sy="100000" kx="0" ky="0" algn="bl" rotWithShape="0" blurRad="177800" dist="76200" dir="5400000">
              <a:srgbClr val="000000">
                <a:alpha val="50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640080" y="1874520"/>
            <a:ext cx="1133856" cy="475488"/>
          </a:xfrm>
          <a:prstGeom prst="roundRect">
            <a:avLst>
              <a:gd name="adj" fmla="val 50000"/>
            </a:avLst>
          </a:prstGeom>
          <a:solidFill>
            <a:srgbClr val="1A2130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40080" y="1874520"/>
            <a:ext cx="1133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1938528" y="1874520"/>
            <a:ext cx="1133856" cy="475488"/>
          </a:xfrm>
          <a:prstGeom prst="roundRect">
            <a:avLst>
              <a:gd name="adj" fmla="val 50000"/>
            </a:avLst>
          </a:prstGeom>
          <a:solidFill>
            <a:srgbClr val="1A2130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938528" y="1874520"/>
            <a:ext cx="1133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Debate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3236976" y="1874520"/>
            <a:ext cx="1133856" cy="475488"/>
          </a:xfrm>
          <a:prstGeom prst="roundRect">
            <a:avLst>
              <a:gd name="adj" fmla="val 50000"/>
            </a:avLst>
          </a:prstGeom>
          <a:solidFill>
            <a:srgbClr val="1A2130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236976" y="1874520"/>
            <a:ext cx="1133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Emendas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535424" y="1874520"/>
            <a:ext cx="1133856" cy="475488"/>
          </a:xfrm>
          <a:prstGeom prst="roundRect">
            <a:avLst>
              <a:gd name="adj" fmla="val 50000"/>
            </a:avLst>
          </a:prstGeom>
          <a:solidFill>
            <a:srgbClr val="1A2130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35424" y="1874520"/>
            <a:ext cx="1133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Voto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833872" y="1874520"/>
            <a:ext cx="1133856" cy="475488"/>
          </a:xfrm>
          <a:prstGeom prst="roundRect">
            <a:avLst>
              <a:gd name="adj" fmla="val 50000"/>
            </a:avLst>
          </a:prstGeom>
          <a:solidFill>
            <a:srgbClr val="1A2130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833872" y="1874520"/>
            <a:ext cx="1133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Apuração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132320" y="1874520"/>
            <a:ext cx="1133856" cy="475488"/>
          </a:xfrm>
          <a:prstGeom prst="roundRect">
            <a:avLst>
              <a:gd name="adj" fmla="val 50000"/>
            </a:avLst>
          </a:prstGeom>
          <a:solidFill>
            <a:srgbClr val="C25B5F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132320" y="1874520"/>
            <a:ext cx="1133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640080" y="274320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lista de votantes congela na abertura
</a:t>
            </a:r>
            <a:endParaRPr lang="en-US" sz="15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entra na sala durante o debate não vota naquela decisão. Não se vira votação enchendo a sala na véspera.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640080" y="388620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Emendas com versão de texto
</a:t>
            </a:r>
            <a:endParaRPr lang="en-US" sz="15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versão 1 fica guardada; a emenda aprovada reabre o debate no texto mudado — e não reabre a lista de votantes.</a:t>
            </a:r>
            <a:endParaRPr lang="en-US" sz="1550" dirty="0"/>
          </a:p>
        </p:txBody>
      </p:sp>
      <p:sp>
        <p:nvSpPr>
          <p:cNvPr id="20" name="Text 16"/>
          <p:cNvSpPr/>
          <p:nvPr/>
        </p:nvSpPr>
        <p:spPr>
          <a:xfrm>
            <a:off x="640080" y="502920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ata é de ferro
</a:t>
            </a:r>
            <a:endParaRPr lang="en-US" sz="15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Assinada pelo organismo, não muda depois de pronta, e desce obrigando. Corrigir é lavrar nova ata que aponta para a anterior.</a:t>
            </a:r>
            <a:endParaRPr lang="en-US" sz="1550" dirty="0"/>
          </a:p>
        </p:txBody>
      </p:sp>
      <p:sp>
        <p:nvSpPr>
          <p:cNvPr id="21" name="Text 17"/>
          <p:cNvSpPr/>
          <p:nvPr/>
        </p:nvSpPr>
        <p:spPr>
          <a:xfrm>
            <a:off x="8549640" y="6547104"/>
            <a:ext cx="28604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 real do protótipo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VOTO SECRETO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urna que só abre com várias chaves</a:t>
            </a:r>
            <a:endParaRPr lang="en-US" sz="3400" dirty="0"/>
          </a:p>
        </p:txBody>
      </p:sp>
      <p:pic>
        <p:nvPicPr>
          <p:cNvPr id="5" name="Image 0" descr="/tmp/claude-0/-home-user-partido/1ac52068-35f9-5dd2-a5dd-be8c5fa1f913/scratchpad/deck/vo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960120"/>
            <a:ext cx="2860431" cy="5577840"/>
          </a:xfrm>
          <a:prstGeom prst="rect">
            <a:avLst/>
          </a:prstGeom>
          <a:effectLst>
            <a:outerShdw sx="100000" sy="100000" kx="0" ky="0" algn="bl" rotWithShape="0" blurRad="177800" dist="76200" dir="5400000">
              <a:srgbClr val="000000">
                <a:alpha val="50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640080" y="18288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mesa não age sozinha
</a:t>
            </a:r>
            <a:endParaRPr lang="en-US" sz="15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das 5 pessoas da mesa precisam concordar para emitir cada senha de votação. A urna só abre com várias chaves ao mesmo tempo.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640080" y="2907792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cédula sai lacrada do aparelho
</a:t>
            </a:r>
            <a:endParaRPr lang="en-US" sz="15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Ninguém no caminho — nem o servidor — vê o voto. E o depósito espera a hora de misturar, para o horário não entregar ninguém.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640080" y="3986784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 rede cai, o voto trava
</a:t>
            </a:r>
            <a:endParaRPr lang="en-US" sz="15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aplicativo prefere travar a expor: sem a rede protegida, a cerimônia pausa e retoma sozinha. Nunca “enviado” sem enviar.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640080" y="5065776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E2A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limite, dito na tela
</a:t>
            </a:r>
            <a:endParaRPr lang="en-US" sz="15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 voto é secreto perante o sistema — mas não te protege se alguém te obriga a mostrar como votou.”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8549640" y="6547104"/>
            <a:ext cx="28604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 real do protótipo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servidor é um carteiro cego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12182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2057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A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CARTEIRO VÊ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242316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qual sala vai cada envelope, quando, e o tamanho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salas existem e como se ligam (a estrutura)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ritmo: rajadas de mensagens aparecem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4069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5B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ELE NUNCA LÊ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44348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conteúdo de qualquer mensagem, ata, voto ou jornal interno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dos membros escreveu (vê “um dos N”)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Nome, telefone ou e-mail de quem quer que seja — não existem lá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55080" y="1828800"/>
            <a:ext cx="5193792" cy="4114800"/>
          </a:xfrm>
          <a:prstGeom prst="roundRect">
            <a:avLst>
              <a:gd name="adj" fmla="val 2000"/>
            </a:avLst>
          </a:prstGeom>
          <a:solidFill>
            <a:srgbClr val="12182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29400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o servidor for apreendido?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629400" y="260604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adversário leva: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envelopes lacrados que não consegue abrir, e o mapa de que salas existem.
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ele não leva: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conteúdo, votos, identidades civis, quem escreveu o quê.
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 honesta: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 grupo de aplicativo comum, a mesma apreensão leva tudo — nomes, telefones e histórico inteiro.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" y="61264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E9A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“Cego para o conteúdo — não para a estrutura.” Está escrito assim, dentro do aplicativo.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Nomes por sala. E uma fechadura que troca sozinha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12182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2103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nome em cada sala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14400" y="265176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célula: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6D9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Camarada Pórtico
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comissão: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6D9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Camarada Estopim
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congresso: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6D9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Camarada Vértice
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foto de uma sala não entrega as outras. O retrato para, ali.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355080" y="1828800"/>
            <a:ext cx="5193792" cy="4023360"/>
          </a:xfrm>
          <a:prstGeom prst="roundRect">
            <a:avLst>
              <a:gd name="adj" fmla="val 2045"/>
            </a:avLst>
          </a:prstGeom>
          <a:solidFill>
            <a:srgbClr val="12182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29400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fechadura do grupo  🔒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629400" y="265176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 sozinha toda vez que alguém entra ou sai da sala</a:t>
            </a:r>
            <a:endParaRPr lang="en-US" sz="14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entra não lê o que veio antes</a:t>
            </a:r>
            <a:endParaRPr lang="en-US" sz="14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sai não lê o que vem depois</a:t>
            </a:r>
            <a:endParaRPr lang="en-US" sz="14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número da fechadura fica à vista na barra da sala — a troca é pública para a sala</a:t>
            </a:r>
            <a:endParaRPr lang="en-US" sz="145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1400" i="1" dirty="0">
                <a:solidFill>
                  <a:srgbClr val="8E9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porta fecha nos dois sentidos. Desenho, não falha.”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·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cadastro: a conta é uma chave — e um papel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12182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20299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palavras num papel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4688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conta é uma chave no aparelho. A cópia de segurança são 12 palavras escritas à mão — quem tem as palavras, é você. Nada disso passa pelo servidor.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63640" y="182880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12182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37960" y="20299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Perdeu o celular?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37960" y="24688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secretário tranca a chave perdida: o aparelho não lê mais nada dali em diante. Reconvite presencial — e a militante volta como a mesma pessoa.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393192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12182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41330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Trancar não é punir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14400" y="45720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Corta-se a chave, nunca a filiação. Justificativa à vista da sala, registro, contestação. Afastamento é outra coisa: processo com quórum, defesa e recurso.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63640" y="393192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12182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37960" y="41330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Ninguém entra por botão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37960" y="45720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é convite pessoal — entregue de mão em mão — e admissão votada pela célula. É a defesa contra entrada em massa de estranhos.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HONESTIDADE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sistema NÃO esconde — dito dentro do app</a:t>
            </a:r>
            <a:endParaRPr lang="en-US" sz="3400" dirty="0"/>
          </a:p>
        </p:txBody>
      </p:sp>
      <p:pic>
        <p:nvPicPr>
          <p:cNvPr id="5" name="Image 0" descr="/tmp/claude-0/-home-user-partido/1ac52068-35f9-5dd2-a5dd-be8c5fa1f913/scratchpad/deck/exposi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960120"/>
            <a:ext cx="2860431" cy="5577840"/>
          </a:xfrm>
          <a:prstGeom prst="rect">
            <a:avLst/>
          </a:prstGeom>
          <a:effectLst>
            <a:outerShdw sx="100000" sy="100000" kx="0" ky="0" algn="bl" rotWithShape="0" blurRad="177800" dist="76200" dir="5400000">
              <a:srgbClr val="000000">
                <a:alpha val="50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640080" y="18288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66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infiltrado lê o que a sala dele lê
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Criptografia não resolve confiança política. A resposta é a forma: compartimentado, ele lê a célula dele — não a organização.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40080" y="2907792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66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Coação vence qualquer aplicativo
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te obriga a abrir a tela vê o que você vê. O app não finge que resolve isso — e ensina a militância a saber disso.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40080" y="3986784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66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estrutura fica no servidor
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salas existem e como se ligam — sem isso o carteiro não entrega. Uma apreensão leva o mapa, nunca o conteúdo.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40080" y="5065776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66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ritmo aparece
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observa a rede nota rajadas. Por isso confirmações saem em horário aleatório — reduzimos, e confessamos o resto.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001000" y="64739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painel “o que o sistema não esconde” — a um toque, em qualquer tela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PODER E CONTROLE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existe administrador — existe mandato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12182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20299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Cargos por eleição, com prazo e recall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523744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Secretário, tesoureira, delegado: eleitos, com mandato registrado e revogável por quem elegeu.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63640" y="182880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12182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37960" y="20299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botão de remover militante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37960" y="2523744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Afastamento é deliberação: quórum, defesa, recurso. A ferramenta não dá a ninguém um poder que o estatuto não dá.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393192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12182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41330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ato de organização é assinado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14400" y="4626864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Fixar, trancar, encerrar: com autor, papel e prazo, à vista da sala — e contestável por questão de ordem.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63640" y="393192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12182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37960" y="41330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Vigiar o vigia é desenho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37960" y="4626864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Atos em série de um mesmo papel sobem sozinhos para a instância superior apreciar. Simetria, não confiança cega.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Dirigir o território sem vigiar pessoas</a:t>
            </a:r>
            <a:endParaRPr lang="en-US" sz="3400" dirty="0"/>
          </a:p>
        </p:txBody>
      </p:sp>
      <p:pic>
        <p:nvPicPr>
          <p:cNvPr id="5" name="Image 0" descr="/tmp/claude-0/-home-user-partido/1ac52068-35f9-5dd2-a5dd-be8c5fa1f913/scratchpad/deck/ba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960120"/>
            <a:ext cx="2860431" cy="5577840"/>
          </a:xfrm>
          <a:prstGeom prst="rect">
            <a:avLst/>
          </a:prstGeom>
          <a:effectLst>
            <a:outerShdw sx="100000" sy="100000" kx="0" ky="0" algn="bl" rotWithShape="0" blurRad="177800" dist="76200" dir="5400000">
              <a:srgbClr val="000000">
                <a:alpha val="50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640080" y="18288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Números por organismo — nunca pessoas
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Cotização, informes, forças, mandatos. O comitê enxerga um nível abaixo, por desenho; do resto, só consolidados.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40080" y="2907792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 de apoio, não ranking
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Ordenado por pendência, não por mérito. Silêncio não é falta: pode ser prisão, perseguição ou sobrecarga — contato antes de juízo.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40080" y="3986784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espelho na célula
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base vê o mesmo que o comitê vê dela. Prestação de contas nos dois sentidos — sem espelho escuro.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40080" y="5065776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número tem proveniência
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Declarado pela célula e assinado, com a idade do dado à vista. O painel nunca é mais fresco que a prestação de contas.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001000" y="65471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 real do protótipo — Balanço do comitê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FINANÇAS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Cotização com anonimato — dentro do que a lei permite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5394960" cy="3931920"/>
          </a:xfrm>
          <a:prstGeom prst="roundRect">
            <a:avLst>
              <a:gd name="adj" fmla="val 2093"/>
            </a:avLst>
          </a:prstGeom>
          <a:solidFill>
            <a:srgbClr val="12182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20848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5B5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Movimento / associação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260604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Cota em dinheiro vivo, com a tesoureira — que entrega um vale (um código)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servidor nunca sabe quem pagou — o vínculo fica com a tesoureira, no papel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modelo histórico da cotização, com prestação de contas por sala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55080" y="1828800"/>
            <a:ext cx="5193792" cy="3931920"/>
          </a:xfrm>
          <a:prstGeom prst="roundRect">
            <a:avLst>
              <a:gd name="adj" fmla="val 2093"/>
            </a:avLst>
          </a:prstGeom>
          <a:solidFill>
            <a:srgbClr val="12182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29400" y="208483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A8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Partido registrado (lei 9.096/95)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629400" y="260604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lei proíbe doação anônima — e o aplicativo tranca sozinho o caminho anônimo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 o PIX identificado, dizendo na tela exatamente o que ele expõe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prometemos anonimato que a lei proíbe — honestidade também é jurídica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60350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E9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prestação de contas é conferida pela comissão de finanças: vales contra totais, sala por sala.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DO PROJETO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Desenho concluído, protótipo navegável — e tudo público</a:t>
            </a:r>
            <a:endParaRPr lang="en-US" sz="3400" dirty="0"/>
          </a:p>
        </p:txBody>
      </p:sp>
      <p:pic>
        <p:nvPicPr>
          <p:cNvPr id="5" name="Image 0" descr="/tmp/claude-0/-home-user-partido/1ac52068-35f9-5dd2-a5dd-be8c5fa1f913/scratchpad/deck/hoj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960120"/>
            <a:ext cx="2860431" cy="5577840"/>
          </a:xfrm>
          <a:prstGeom prst="rect">
            <a:avLst/>
          </a:prstGeom>
          <a:effectLst>
            <a:outerShdw sx="100000" sy="100000" kx="0" ky="0" algn="bl" rotWithShape="0" blurRad="177800" dist="76200" dir="5400000">
              <a:srgbClr val="000000">
                <a:alpha val="50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640080" y="1828800"/>
            <a:ext cx="7498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45B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Feito
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histórico com fontes; modelo de domínio; arquitetura de segurança; modelo de ameaças; 90+ telas especificadas; protótipo navegável de alta fidelidade.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40080" y="3246120"/>
            <a:ext cx="7498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45B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Validado
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Rodadas adversariais independentes sobre documentos e protótipo — achados corrigidos ou confessados. Nada foi aceito sem ataque.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40080" y="4663440"/>
            <a:ext cx="7498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E2A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aberto — e dito
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decisões finais de arquitetura estão registradas uma a uma (selos “desenho em aberto” nas próprias telas). A construção do aplicativo real é a próxima fase.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001000" y="65471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Início “Hoje”: pendências com prazo — nunca conteúdo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2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CONVITE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ferramenta é da classe — não de uma empresa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12182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743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Critiquem o desenho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96112" y="34290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direções conhecem a vida orgânica melhor que qualquer programador. Cada crítica vira registro público e melhora o desenho de todos.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246888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12182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432" y="2743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Pilotem com a gente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99432" y="34290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célula, um comitê, um caso real. O protótipo navegável existe para isso — e a fase de construção nasce dos pilotos.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246888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121824"/>
          </a:solidFill>
          <a:ln w="12700">
            <a:solidFill>
              <a:srgbClr val="232C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2752" y="2743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organização, seu servidor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02752" y="342900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6C1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Autonomia completa: sua organização roda a própria infraestrutura. Frentes com outras organizações, por acordo assinado — nunca por padrão.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55778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6C1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 é gestão de riscos — e organização é a nossa.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61722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9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documentos, protótipo e discussão: github.com/ricardod31/partido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2026-08-12T19:45:59Z</dcterms:created>
  <dcterms:modified xsi:type="dcterms:W3CDTF">2026-08-12T19:45:59Z</dcterms:modified>
</cp:coreProperties>
</file>